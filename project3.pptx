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6" r:id="rId8"/>
    <p:sldId id="262" r:id="rId9"/>
    <p:sldId id="264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AD22D-DAF4-1C5B-A41B-0BBA1BE0A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B1E89A-F502-51BD-48D2-F036CEB26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93D67-A6CC-96DC-B57A-7466A1A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66A4C-66E0-5BB7-D16E-7794BA5D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11F71-D21A-5FED-E210-11907D7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342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9FFC1-FC8B-ABC1-30EA-7D87D62A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6CBF0-127A-AFAE-1409-D74AE96DC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0A623-7E23-EA55-C2B9-0DDC55EB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00D27-7190-5ACB-F3FE-247BE53D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BFB97-849B-F922-4311-AE2E1E0C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866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A7987-5E75-C108-FC14-5FAD32376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5AEB37-D780-32D1-8892-7F896A27A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F7E22-10AC-C89F-60D9-C8551E74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5EC54-CC9B-964E-7110-95D50ADC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29D5C9-131E-B8B8-E8F4-6673312C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54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18420-CA7D-5780-C5BD-8D6119D0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44A9E0-B892-5D83-A286-93CECB5E8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E96B7B-ECBC-370D-C189-1E104D52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962325-1B61-E64A-7D4C-12512C02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D2BE50-326F-509D-AE85-0D200C02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E76F6C-D847-5721-A209-8E73E39B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489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31720-8835-A5F9-E29F-CA6F081E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E7182-9910-EB13-7B18-BEEA1741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7E16F8-68C9-B7D2-44DC-140D79C6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5D60BD-D090-A73C-B07A-6B9AC5870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710B2E-4360-2517-417F-DDA31A802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99FAAA-AE9A-D395-3FCF-8AEBF842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88EFD2-21B6-5BAA-F14D-D32734A4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BC9256-5470-8966-AF3F-2F436E17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762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DC994-5317-BE87-7A28-0C1707E1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E91464-293B-2CB1-8EA1-50487DEF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F23C6F-09B8-740C-292C-5E30ADF9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E50A7-3AE8-9E3C-2BC9-FFA909E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78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74DC36-36EE-F2BF-C816-1BCAA92F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97D57E-C991-0C38-B95A-98C8BCF0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3DD9C-C315-5852-D2F8-C3B838BC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125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D75C7-390C-320C-6658-FB64B79A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28CF71-8DA3-03FB-0BA6-72A90D340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D65F82-E99C-6D0B-3947-0A5D5A872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703955-AA19-0283-3004-7BA40C05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D1A26-BA9A-C7F9-B8B4-9FFABAF8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29FB8-D47A-239F-EEAB-7665E379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36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903EE-FCAB-40D7-7AFC-F3014A16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E0DE58-95FA-CE83-5F52-281002856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BFCBDF-8D88-408C-2297-0A683E709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9271C5-DD61-6086-7D1F-B70ED3A5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5860B1-60AE-0BE5-6CDA-0CC680F9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FC693D-CE22-7B6C-FB95-5495FBD9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768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0C301-3B11-FAE4-A382-FEFDAE92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1B7039-F29F-5E95-B2BE-DB60FD4B7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05C4F-DD3E-70AC-5C2D-FF404BB4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AE867-BB5E-EE3F-4084-C4F64330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75EF4-F7BC-F837-C91B-0E9675A3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675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3E4857-5AA5-A5CC-27F3-701064B6F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E78096-80D4-BFDA-28F5-4E83FDF4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1603D-A313-9270-B202-F863E58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5EB4B-A1A4-0AAE-BB00-6BB295FA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FEDCB7-713E-9F12-F271-53E88A88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156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04866-EDD6-FA88-C15B-497093D2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1BAF1-8868-8E50-8802-26D43E943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1DE48-A99D-F29E-E2DB-2D1BF9D7B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A4BCC-5B4B-3B48-B61F-C9798D90D7A1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B9A64-4F6F-071D-3798-ED1888B69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5C5FC1-A232-8460-CF86-E9EE22E03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5DA45-3260-5B4D-B5FF-D370255DC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401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ogisticRegression.html#sklearn.linear_model.LogisticRegression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113A06-5CD9-6415-4644-1B532BB641E3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015DAD4-3C71-359D-EE11-B5304CC057AB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紫色的花朵&#10;&#10;描述已自动生成">
            <a:extLst>
              <a:ext uri="{FF2B5EF4-FFF2-40B4-BE49-F238E27FC236}">
                <a16:creationId xmlns:a16="http://schemas.microsoft.com/office/drawing/2014/main" id="{6535BE55-7191-A99F-259A-382B87148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76" y="1608114"/>
            <a:ext cx="3479407" cy="4344931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90C7E06-868A-C8F6-DE1D-71B54AE3794C}"/>
              </a:ext>
            </a:extLst>
          </p:cNvPr>
          <p:cNvCxnSpPr>
            <a:cxnSpLocks/>
          </p:cNvCxnSpPr>
          <p:nvPr/>
        </p:nvCxnSpPr>
        <p:spPr>
          <a:xfrm flipH="1">
            <a:off x="1603277" y="3090041"/>
            <a:ext cx="1051035" cy="0"/>
          </a:xfrm>
          <a:prstGeom prst="line">
            <a:avLst/>
          </a:prstGeom>
          <a:ln w="63500">
            <a:solidFill>
              <a:schemeClr val="accent2"/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EC82F1C-39E5-4F74-5716-0238E25EAF5E}"/>
              </a:ext>
            </a:extLst>
          </p:cNvPr>
          <p:cNvCxnSpPr>
            <a:cxnSpLocks/>
          </p:cNvCxnSpPr>
          <p:nvPr/>
        </p:nvCxnSpPr>
        <p:spPr>
          <a:xfrm flipH="1">
            <a:off x="1603277" y="4818993"/>
            <a:ext cx="1051035" cy="0"/>
          </a:xfrm>
          <a:prstGeom prst="line">
            <a:avLst/>
          </a:prstGeom>
          <a:ln w="63500">
            <a:solidFill>
              <a:schemeClr val="accent2"/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A3D2668-356A-E82C-DB08-6F8715FD9A4E}"/>
              </a:ext>
            </a:extLst>
          </p:cNvPr>
          <p:cNvSpPr txBox="1"/>
          <p:nvPr/>
        </p:nvSpPr>
        <p:spPr>
          <a:xfrm rot="18045595">
            <a:off x="1044791" y="376985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Sepal Length</a:t>
            </a:r>
            <a:endParaRPr kumimoji="1" lang="zh-CN" alt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85DD26E1-4607-9D16-D1B5-15458EAC3BF3}"/>
              </a:ext>
            </a:extLst>
          </p:cNvPr>
          <p:cNvCxnSpPr/>
          <p:nvPr/>
        </p:nvCxnSpPr>
        <p:spPr>
          <a:xfrm>
            <a:off x="2551552" y="4372304"/>
            <a:ext cx="987973" cy="0"/>
          </a:xfrm>
          <a:prstGeom prst="line">
            <a:avLst/>
          </a:prstGeom>
          <a:ln w="63500">
            <a:solidFill>
              <a:schemeClr val="accent2"/>
            </a:solidFill>
            <a:prstDash val="sysDot"/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E8B733AA-037C-3419-D91F-F7E2EE674664}"/>
              </a:ext>
            </a:extLst>
          </p:cNvPr>
          <p:cNvCxnSpPr/>
          <p:nvPr/>
        </p:nvCxnSpPr>
        <p:spPr>
          <a:xfrm>
            <a:off x="2940435" y="3915103"/>
            <a:ext cx="987973" cy="0"/>
          </a:xfrm>
          <a:prstGeom prst="line">
            <a:avLst/>
          </a:prstGeom>
          <a:ln w="63500">
            <a:solidFill>
              <a:schemeClr val="accent2"/>
            </a:solidFill>
            <a:prstDash val="sysDot"/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B014571-D877-777B-0EA2-5B44B1C00A49}"/>
              </a:ext>
            </a:extLst>
          </p:cNvPr>
          <p:cNvSpPr txBox="1"/>
          <p:nvPr/>
        </p:nvSpPr>
        <p:spPr>
          <a:xfrm rot="18045089">
            <a:off x="3175839" y="4052442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Sepal Width</a:t>
            </a:r>
            <a:endParaRPr kumimoji="1" lang="zh-CN" alt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2D60634B-BB07-9B02-F25A-BA7585103742}"/>
              </a:ext>
            </a:extLst>
          </p:cNvPr>
          <p:cNvCxnSpPr/>
          <p:nvPr/>
        </p:nvCxnSpPr>
        <p:spPr>
          <a:xfrm>
            <a:off x="3289858" y="2238703"/>
            <a:ext cx="987973" cy="0"/>
          </a:xfrm>
          <a:prstGeom prst="line">
            <a:avLst/>
          </a:prstGeom>
          <a:ln w="63500">
            <a:solidFill>
              <a:schemeClr val="accent5"/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75055033-5F08-1F93-411A-D01C86ABE276}"/>
              </a:ext>
            </a:extLst>
          </p:cNvPr>
          <p:cNvCxnSpPr/>
          <p:nvPr/>
        </p:nvCxnSpPr>
        <p:spPr>
          <a:xfrm>
            <a:off x="2888378" y="3429000"/>
            <a:ext cx="987973" cy="0"/>
          </a:xfrm>
          <a:prstGeom prst="line">
            <a:avLst/>
          </a:prstGeom>
          <a:ln w="63500">
            <a:solidFill>
              <a:schemeClr val="accent5"/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112A90D-8310-72F2-197B-A9A6F0A826C9}"/>
              </a:ext>
            </a:extLst>
          </p:cNvPr>
          <p:cNvSpPr txBox="1"/>
          <p:nvPr/>
        </p:nvSpPr>
        <p:spPr>
          <a:xfrm rot="18045595">
            <a:off x="3387283" y="2583648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Petal Length</a:t>
            </a:r>
            <a:endParaRPr kumimoji="1" lang="zh-CN" alt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1AEEECFB-5289-ADFF-0950-B21FAB42219D}"/>
              </a:ext>
            </a:extLst>
          </p:cNvPr>
          <p:cNvCxnSpPr>
            <a:cxnSpLocks/>
          </p:cNvCxnSpPr>
          <p:nvPr/>
        </p:nvCxnSpPr>
        <p:spPr>
          <a:xfrm flipH="1">
            <a:off x="1666339" y="2834953"/>
            <a:ext cx="987973" cy="0"/>
          </a:xfrm>
          <a:prstGeom prst="line">
            <a:avLst/>
          </a:prstGeom>
          <a:ln w="63500">
            <a:solidFill>
              <a:schemeClr val="accent5"/>
            </a:solidFill>
            <a:prstDash val="sysDot"/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426A783E-3C25-B61D-902D-EA178FC88DF3}"/>
              </a:ext>
            </a:extLst>
          </p:cNvPr>
          <p:cNvCxnSpPr>
            <a:cxnSpLocks/>
          </p:cNvCxnSpPr>
          <p:nvPr/>
        </p:nvCxnSpPr>
        <p:spPr>
          <a:xfrm flipH="1">
            <a:off x="1940011" y="2531076"/>
            <a:ext cx="1337915" cy="0"/>
          </a:xfrm>
          <a:prstGeom prst="line">
            <a:avLst/>
          </a:prstGeom>
          <a:ln w="63500">
            <a:solidFill>
              <a:schemeClr val="accent5"/>
            </a:solidFill>
            <a:prstDash val="sysDot"/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5B0DB56-273C-F79C-BB2D-315D40B06A28}"/>
              </a:ext>
            </a:extLst>
          </p:cNvPr>
          <p:cNvSpPr txBox="1"/>
          <p:nvPr/>
        </p:nvSpPr>
        <p:spPr>
          <a:xfrm rot="18045595">
            <a:off x="938056" y="2356922"/>
            <a:ext cx="1362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Petal Width</a:t>
            </a:r>
            <a:endParaRPr kumimoji="1" lang="zh-CN" alt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4A02E5-D119-9A6C-2955-46312CCC7E5D}"/>
              </a:ext>
            </a:extLst>
          </p:cNvPr>
          <p:cNvSpPr txBox="1"/>
          <p:nvPr/>
        </p:nvSpPr>
        <p:spPr>
          <a:xfrm>
            <a:off x="5265802" y="1249798"/>
            <a:ext cx="6448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特征</a:t>
            </a:r>
            <a:r>
              <a:rPr kumimoji="1" lang="zh-CN" altLang="en-US" sz="2000" dirty="0"/>
              <a:t>（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1" lang="zh-CN" altLang="en-US" sz="2000" dirty="0"/>
              <a:t>）：</a:t>
            </a:r>
            <a:endParaRPr kumimoji="1" lang="en-US" altLang="zh-CN" sz="2000" dirty="0"/>
          </a:p>
          <a:p>
            <a:r>
              <a:rPr kumimoji="1" lang="en-US" altLang="zh-CN" sz="2000" dirty="0"/>
              <a:t>[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kumimoji="1" lang="en-US" altLang="zh-CN" sz="2000" dirty="0"/>
              <a:t>]</a:t>
            </a:r>
            <a:endParaRPr kumimoji="1"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5ED7E34-8583-D155-615A-5E2091AF796F}"/>
              </a:ext>
            </a:extLst>
          </p:cNvPr>
          <p:cNvSpPr txBox="1"/>
          <p:nvPr/>
        </p:nvSpPr>
        <p:spPr>
          <a:xfrm>
            <a:off x="5261776" y="2692100"/>
            <a:ext cx="6448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种类</a:t>
            </a:r>
            <a:r>
              <a:rPr kumimoji="1" lang="zh-CN" altLang="en-US" sz="2000" dirty="0"/>
              <a:t>（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kumimoji="1" lang="zh-CN" altLang="en-US" sz="2000" dirty="0"/>
              <a:t>）：</a:t>
            </a:r>
            <a:endParaRPr kumimoji="1" lang="en-US" altLang="zh-CN" sz="2000" dirty="0"/>
          </a:p>
          <a:p>
            <a:r>
              <a:rPr kumimoji="1" lang="en-US" altLang="zh-CN" sz="2000" dirty="0"/>
              <a:t>[</a:t>
            </a:r>
            <a:r>
              <a:rPr kumimoji="1"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, Virginica, Versicolor</a:t>
            </a:r>
            <a:r>
              <a:rPr kumimoji="1" lang="en-US" altLang="zh-CN" sz="2000" dirty="0"/>
              <a:t>]</a:t>
            </a:r>
            <a:endParaRPr kumimoji="1"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EB27A69-DF1A-C4D0-F783-FD1721EC184C}"/>
              </a:ext>
            </a:extLst>
          </p:cNvPr>
          <p:cNvSpPr txBox="1"/>
          <p:nvPr/>
        </p:nvSpPr>
        <p:spPr>
          <a:xfrm>
            <a:off x="5273039" y="41098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分类器</a:t>
            </a:r>
            <a:r>
              <a:rPr kumimoji="1" lang="zh-CN" altLang="en-US" sz="1800" dirty="0"/>
              <a:t>（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kumimoji="1" lang="zh-CN" altLang="en-US" sz="1800" dirty="0"/>
              <a:t>）：</a:t>
            </a:r>
            <a:endParaRPr kumimoji="1" lang="en-US" altLang="zh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533CB86-252A-CBDD-EDF2-E4F3C69E2DC6}"/>
                  </a:ext>
                </a:extLst>
              </p:cNvPr>
              <p:cNvSpPr txBox="1"/>
              <p:nvPr/>
            </p:nvSpPr>
            <p:spPr>
              <a:xfrm>
                <a:off x="5819916" y="4727302"/>
                <a:ext cx="50809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3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3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32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2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32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2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533CB86-252A-CBDD-EDF2-E4F3C69E2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916" y="4727302"/>
                <a:ext cx="5080943" cy="492443"/>
              </a:xfrm>
              <a:prstGeom prst="rect">
                <a:avLst/>
              </a:prstGeom>
              <a:blipFill>
                <a:blip r:embed="rId3"/>
                <a:stretch>
                  <a:fillRect l="-1496" t="-2564" r="-2244" b="-35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1CAC4FF-D8B7-AC94-41CA-646753D3203C}"/>
                  </a:ext>
                </a:extLst>
              </p:cNvPr>
              <p:cNvSpPr txBox="1"/>
              <p:nvPr/>
            </p:nvSpPr>
            <p:spPr>
              <a:xfrm>
                <a:off x="5965718" y="1987853"/>
                <a:ext cx="410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24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1CAC4FF-D8B7-AC94-41CA-646753D32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718" y="1987853"/>
                <a:ext cx="410304" cy="369332"/>
              </a:xfrm>
              <a:prstGeom prst="rect">
                <a:avLst/>
              </a:prstGeom>
              <a:blipFill>
                <a:blip r:embed="rId4"/>
                <a:stretch>
                  <a:fillRect l="-5882" r="-588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DCB6D6D-AAA9-B70D-B10A-6725E519CAA5}"/>
                  </a:ext>
                </a:extLst>
              </p:cNvPr>
              <p:cNvSpPr txBox="1"/>
              <p:nvPr/>
            </p:nvSpPr>
            <p:spPr>
              <a:xfrm>
                <a:off x="7562276" y="1987852"/>
                <a:ext cx="4103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24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DCB6D6D-AAA9-B70D-B10A-6725E519C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276" y="1987852"/>
                <a:ext cx="410305" cy="369332"/>
              </a:xfrm>
              <a:prstGeom prst="rect">
                <a:avLst/>
              </a:prstGeom>
              <a:blipFill>
                <a:blip r:embed="rId5"/>
                <a:stretch>
                  <a:fillRect l="-9091" r="-606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F77DD9B-2784-BDC0-82F9-DDA8BF7C29AD}"/>
                  </a:ext>
                </a:extLst>
              </p:cNvPr>
              <p:cNvSpPr txBox="1"/>
              <p:nvPr/>
            </p:nvSpPr>
            <p:spPr>
              <a:xfrm>
                <a:off x="9058917" y="1987852"/>
                <a:ext cx="410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24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F77DD9B-2784-BDC0-82F9-DDA8BF7C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917" y="1987852"/>
                <a:ext cx="410304" cy="369332"/>
              </a:xfrm>
              <a:prstGeom prst="rect">
                <a:avLst/>
              </a:prstGeom>
              <a:blipFill>
                <a:blip r:embed="rId6"/>
                <a:stretch>
                  <a:fillRect l="-9091" r="-606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562B8D2-6D0C-6FC6-DD3C-E057F8C23888}"/>
                  </a:ext>
                </a:extLst>
              </p:cNvPr>
              <p:cNvSpPr txBox="1"/>
              <p:nvPr/>
            </p:nvSpPr>
            <p:spPr>
              <a:xfrm>
                <a:off x="10490555" y="1987852"/>
                <a:ext cx="410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24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562B8D2-6D0C-6FC6-DD3C-E057F8C23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555" y="1987852"/>
                <a:ext cx="410304" cy="369332"/>
              </a:xfrm>
              <a:prstGeom prst="rect">
                <a:avLst/>
              </a:prstGeom>
              <a:blipFill>
                <a:blip r:embed="rId7"/>
                <a:stretch>
                  <a:fillRect l="-9091" r="-606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2BA9905-181B-15C5-8C42-26F2309B7BC6}"/>
                  </a:ext>
                </a:extLst>
              </p:cNvPr>
              <p:cNvSpPr txBox="1"/>
              <p:nvPr/>
            </p:nvSpPr>
            <p:spPr>
              <a:xfrm>
                <a:off x="5662685" y="3414767"/>
                <a:ext cx="3520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2BA9905-181B-15C5-8C42-26F2309B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85" y="3414767"/>
                <a:ext cx="352084" cy="307777"/>
              </a:xfrm>
              <a:prstGeom prst="rect">
                <a:avLst/>
              </a:prstGeom>
              <a:blipFill>
                <a:blip r:embed="rId8"/>
                <a:stretch>
                  <a:fillRect l="-13793" r="-689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DFE1CF2-41A5-AEE8-A26D-9BD9CAC84EB6}"/>
                  </a:ext>
                </a:extLst>
              </p:cNvPr>
              <p:cNvSpPr txBox="1"/>
              <p:nvPr/>
            </p:nvSpPr>
            <p:spPr>
              <a:xfrm>
                <a:off x="6713991" y="3417690"/>
                <a:ext cx="3520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DFE1CF2-41A5-AEE8-A26D-9BD9CAC84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991" y="3417690"/>
                <a:ext cx="352084" cy="307777"/>
              </a:xfrm>
              <a:prstGeom prst="rect">
                <a:avLst/>
              </a:prstGeom>
              <a:blipFill>
                <a:blip r:embed="rId9"/>
                <a:stretch>
                  <a:fillRect l="-13793" r="-3448" b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04550F9-4539-CA31-5C35-4E01BA77BCF1}"/>
                  </a:ext>
                </a:extLst>
              </p:cNvPr>
              <p:cNvSpPr txBox="1"/>
              <p:nvPr/>
            </p:nvSpPr>
            <p:spPr>
              <a:xfrm>
                <a:off x="7757829" y="3414766"/>
                <a:ext cx="3520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04550F9-4539-CA31-5C35-4E01BA77B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829" y="3414766"/>
                <a:ext cx="352084" cy="307777"/>
              </a:xfrm>
              <a:prstGeom prst="rect">
                <a:avLst/>
              </a:prstGeom>
              <a:blipFill>
                <a:blip r:embed="rId10"/>
                <a:stretch>
                  <a:fillRect l="-17857" r="-3571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AD49FED5-9177-01F4-B4EA-4B832311033C}"/>
              </a:ext>
            </a:extLst>
          </p:cNvPr>
          <p:cNvCxnSpPr/>
          <p:nvPr/>
        </p:nvCxnSpPr>
        <p:spPr>
          <a:xfrm flipV="1">
            <a:off x="8187558" y="5219745"/>
            <a:ext cx="0" cy="44346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1EC13264-88D4-5A4B-A9B4-2CD43EE6EE68}"/>
              </a:ext>
            </a:extLst>
          </p:cNvPr>
          <p:cNvSpPr txBox="1"/>
          <p:nvPr/>
        </p:nvSpPr>
        <p:spPr>
          <a:xfrm>
            <a:off x="6769255" y="5712188"/>
            <a:ext cx="2494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 and Solved </a:t>
            </a:r>
          </a:p>
          <a:p>
            <a:pPr algn="ctr"/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Machine Learning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06975DF-9A73-684F-EF83-991275880F93}"/>
                  </a:ext>
                </a:extLst>
              </p:cNvPr>
              <p:cNvSpPr txBox="1"/>
              <p:nvPr/>
            </p:nvSpPr>
            <p:spPr>
              <a:xfrm>
                <a:off x="9634333" y="5290084"/>
                <a:ext cx="2206566" cy="745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kumimoji="1" lang="zh-CN" alt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且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zh-CN" alt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06975DF-9A73-684F-EF83-991275880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333" y="5290084"/>
                <a:ext cx="2206566" cy="745269"/>
              </a:xfrm>
              <a:prstGeom prst="rect">
                <a:avLst/>
              </a:prstGeom>
              <a:blipFill>
                <a:blip r:embed="rId11"/>
                <a:stretch>
                  <a:fillRect l="-1714" t="-145000" r="-1714" b="-2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82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DFAA2-8DEF-1D4F-386B-F54EBE687CC8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1B00484-8C9B-4797-4F3C-14FE8D1A32AF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图表, 箱线图&#10;&#10;描述已自动生成">
            <a:extLst>
              <a:ext uri="{FF2B5EF4-FFF2-40B4-BE49-F238E27FC236}">
                <a16:creationId xmlns:a16="http://schemas.microsoft.com/office/drawing/2014/main" id="{ED9C793C-DA0C-0CB7-F34F-97D304BAD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890" b="50173"/>
          <a:stretch/>
        </p:blipFill>
        <p:spPr>
          <a:xfrm>
            <a:off x="687370" y="1305133"/>
            <a:ext cx="6815617" cy="54217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EA79ABF-A4CF-D80D-1851-709B795FC280}"/>
              </a:ext>
            </a:extLst>
          </p:cNvPr>
          <p:cNvSpPr txBox="1"/>
          <p:nvPr/>
        </p:nvSpPr>
        <p:spPr>
          <a:xfrm>
            <a:off x="7836444" y="3255967"/>
            <a:ext cx="2509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sns.boxplot</a:t>
            </a:r>
            <a:r>
              <a:rPr lang="en" altLang="zh-CN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7387DF-660C-3BB0-C8F4-D6031AAE8910}"/>
              </a:ext>
            </a:extLst>
          </p:cNvPr>
          <p:cNvSpPr txBox="1"/>
          <p:nvPr/>
        </p:nvSpPr>
        <p:spPr>
          <a:xfrm>
            <a:off x="8340606" y="3763385"/>
            <a:ext cx="3250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箱线图，展示数据分布</a:t>
            </a: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05A601F-1D0E-093B-1446-A6039473E138}"/>
                  </a:ext>
                </a:extLst>
              </p:cNvPr>
              <p:cNvSpPr txBox="1"/>
              <p:nvPr/>
            </p:nvSpPr>
            <p:spPr>
              <a:xfrm>
                <a:off x="358111" y="3658564"/>
                <a:ext cx="410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24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05A601F-1D0E-093B-1446-A6039473E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11" y="3658564"/>
                <a:ext cx="410304" cy="369332"/>
              </a:xfrm>
              <a:prstGeom prst="rect">
                <a:avLst/>
              </a:prstGeom>
              <a:blipFill>
                <a:blip r:embed="rId3"/>
                <a:stretch>
                  <a:fillRect l="-9091" r="-606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056CF3B7-B23D-8EFE-6730-9061FF2BE74A}"/>
              </a:ext>
            </a:extLst>
          </p:cNvPr>
          <p:cNvSpPr txBox="1"/>
          <p:nvPr/>
        </p:nvSpPr>
        <p:spPr>
          <a:xfrm>
            <a:off x="489065" y="905023"/>
            <a:ext cx="360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特征</a:t>
            </a:r>
            <a:r>
              <a:rPr kumimoji="1" lang="zh-CN" altLang="en-US" sz="1600" dirty="0"/>
              <a:t>（</a:t>
            </a: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1" lang="zh-CN" altLang="en-US" sz="1600" dirty="0"/>
              <a:t>）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分布可视化</a:t>
            </a:r>
          </a:p>
        </p:txBody>
      </p:sp>
    </p:spTree>
    <p:extLst>
      <p:ext uri="{BB962C8B-B14F-4D97-AF65-F5344CB8AC3E}">
        <p14:creationId xmlns:p14="http://schemas.microsoft.com/office/powerpoint/2010/main" val="82572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F5FACB-C49E-9DDE-908C-ABE47816B0FA}"/>
              </a:ext>
            </a:extLst>
          </p:cNvPr>
          <p:cNvSpPr txBox="1"/>
          <p:nvPr/>
        </p:nvSpPr>
        <p:spPr>
          <a:xfrm>
            <a:off x="922502" y="6148365"/>
            <a:ext cx="10346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https://scikit-learn.org/stable/auto_examples/classification/plot_classification_probability.html#sphx-glr-auto-examples-classification-plot-classification-probability-py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8DA73F-072E-6AB2-D7EE-09BE7A5C1EE2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3B5C0F0-A9DE-665D-7BF7-CF230C500FB8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EF192BC7-EB0A-BCEE-0BC2-26CAA383B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260" y="1453582"/>
            <a:ext cx="9305467" cy="471920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A69FA1A-E6DF-64AF-29F1-762E3BB0BE35}"/>
              </a:ext>
            </a:extLst>
          </p:cNvPr>
          <p:cNvSpPr txBox="1"/>
          <p:nvPr/>
        </p:nvSpPr>
        <p:spPr>
          <a:xfrm>
            <a:off x="489065" y="905023"/>
            <a:ext cx="360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选用合适的分类器</a:t>
            </a:r>
            <a:r>
              <a:rPr kumimoji="1" lang="zh-CN" altLang="en-US" sz="1600" dirty="0"/>
              <a:t>（</a:t>
            </a: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kumimoji="1" lang="zh-CN" altLang="en-US" sz="1600" dirty="0"/>
              <a:t>）</a:t>
            </a:r>
            <a:endParaRPr kumimoji="1" lang="zh-CN" altLang="en-US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5D49FC-CD65-9E45-5DED-726C0F52864B}"/>
              </a:ext>
            </a:extLst>
          </p:cNvPr>
          <p:cNvSpPr txBox="1"/>
          <p:nvPr/>
        </p:nvSpPr>
        <p:spPr>
          <a:xfrm>
            <a:off x="4366715" y="985080"/>
            <a:ext cx="733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400" dirty="0">
                <a:solidFill>
                  <a:srgbClr val="FF4689"/>
                </a:solidFill>
                <a:effectLst/>
              </a:rPr>
              <a:t>from</a:t>
            </a:r>
            <a:r>
              <a:rPr lang="en" altLang="zh-CN" sz="2400" dirty="0">
                <a:solidFill>
                  <a:srgbClr val="F8F8F2"/>
                </a:solidFill>
                <a:effectLst/>
              </a:rPr>
              <a:t> </a:t>
            </a:r>
            <a:r>
              <a:rPr lang="en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sklearn.linear_model</a:t>
            </a:r>
            <a:r>
              <a:rPr lang="en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lang="en" altLang="zh-CN" sz="2400" dirty="0">
                <a:solidFill>
                  <a:srgbClr val="FF4689"/>
                </a:solidFill>
                <a:effectLst/>
              </a:rPr>
              <a:t>import</a:t>
            </a:r>
            <a:r>
              <a:rPr lang="en" altLang="zh-CN" sz="2400" dirty="0"/>
              <a:t> </a:t>
            </a:r>
            <a:r>
              <a:rPr lang="en" altLang="zh-CN" sz="2400" strike="noStrike" dirty="0">
                <a:solidFill>
                  <a:srgbClr val="F8F8F2"/>
                </a:solidFill>
                <a:effectLst/>
                <a:hlinkClick r:id="rId3" tooltip="sklearn.linear_model.LogisticRegression"/>
              </a:rPr>
              <a:t>LogisticRegression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83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表, 散点图&#10;&#10;描述已自动生成">
            <a:extLst>
              <a:ext uri="{FF2B5EF4-FFF2-40B4-BE49-F238E27FC236}">
                <a16:creationId xmlns:a16="http://schemas.microsoft.com/office/drawing/2014/main" id="{FC2283AE-A301-3D99-2DAC-39232694C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95" r="51079"/>
          <a:stretch/>
        </p:blipFill>
        <p:spPr>
          <a:xfrm>
            <a:off x="6099862" y="648536"/>
            <a:ext cx="6092138" cy="6209463"/>
          </a:xfrm>
          <a:prstGeom prst="rect">
            <a:avLst/>
          </a:prstGeom>
        </p:spPr>
      </p:pic>
      <p:pic>
        <p:nvPicPr>
          <p:cNvPr id="9" name="图片 8" descr="图表, 散点图&#10;&#10;描述已自动生成">
            <a:extLst>
              <a:ext uri="{FF2B5EF4-FFF2-40B4-BE49-F238E27FC236}">
                <a16:creationId xmlns:a16="http://schemas.microsoft.com/office/drawing/2014/main" id="{A0FF2C89-759C-27BA-2C90-FEE69E7DD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324"/>
          <a:stretch/>
        </p:blipFill>
        <p:spPr>
          <a:xfrm>
            <a:off x="73572" y="648537"/>
            <a:ext cx="5880528" cy="62094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0BE5553-314A-07EA-FEBB-DE45107AF926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80884120-D0B9-B52A-001C-3BC9C84600CA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B5D1C1F-04D3-3785-E006-DCC9681BBB06}"/>
              </a:ext>
            </a:extLst>
          </p:cNvPr>
          <p:cNvSpPr txBox="1"/>
          <p:nvPr/>
        </p:nvSpPr>
        <p:spPr>
          <a:xfrm>
            <a:off x="489065" y="905023"/>
            <a:ext cx="360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分类边界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&amp;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概率图可视化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336B646-4D09-05C6-2CB3-514A06E03D18}"/>
                  </a:ext>
                </a:extLst>
              </p:cNvPr>
              <p:cNvSpPr txBox="1"/>
              <p:nvPr/>
            </p:nvSpPr>
            <p:spPr>
              <a:xfrm>
                <a:off x="8775723" y="190043"/>
                <a:ext cx="2927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336B646-4D09-05C6-2CB3-514A06E03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723" y="190043"/>
                <a:ext cx="2927212" cy="369332"/>
              </a:xfrm>
              <a:prstGeom prst="rect">
                <a:avLst/>
              </a:prstGeom>
              <a:blipFill>
                <a:blip r:embed="rId3"/>
                <a:stretch>
                  <a:fillRect l="-2165" r="-3030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57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表, 散点图&#10;&#10;描述已自动生成">
            <a:extLst>
              <a:ext uri="{FF2B5EF4-FFF2-40B4-BE49-F238E27FC236}">
                <a16:creationId xmlns:a16="http://schemas.microsoft.com/office/drawing/2014/main" id="{FC2283AE-A301-3D99-2DAC-39232694C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95" r="25975"/>
          <a:stretch/>
        </p:blipFill>
        <p:spPr>
          <a:xfrm>
            <a:off x="6049015" y="648537"/>
            <a:ext cx="6142985" cy="6209463"/>
          </a:xfrm>
          <a:prstGeom prst="rect">
            <a:avLst/>
          </a:prstGeom>
        </p:spPr>
      </p:pic>
      <p:pic>
        <p:nvPicPr>
          <p:cNvPr id="9" name="图片 8" descr="图表, 散点图&#10;&#10;描述已自动生成">
            <a:extLst>
              <a:ext uri="{FF2B5EF4-FFF2-40B4-BE49-F238E27FC236}">
                <a16:creationId xmlns:a16="http://schemas.microsoft.com/office/drawing/2014/main" id="{A0FF2C89-759C-27BA-2C90-FEE69E7DD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324"/>
          <a:stretch/>
        </p:blipFill>
        <p:spPr>
          <a:xfrm>
            <a:off x="73572" y="648537"/>
            <a:ext cx="5880528" cy="62094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0BE5553-314A-07EA-FEBB-DE45107AF926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80884120-D0B9-B52A-001C-3BC9C84600CA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B5D1C1F-04D3-3785-E006-DCC9681BBB06}"/>
              </a:ext>
            </a:extLst>
          </p:cNvPr>
          <p:cNvSpPr txBox="1"/>
          <p:nvPr/>
        </p:nvSpPr>
        <p:spPr>
          <a:xfrm>
            <a:off x="489065" y="905023"/>
            <a:ext cx="360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分类边界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&amp;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概率图可视化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76D9AF0-CB8E-3710-9EEF-C55BA754D0E6}"/>
                  </a:ext>
                </a:extLst>
              </p:cNvPr>
              <p:cNvSpPr txBox="1"/>
              <p:nvPr/>
            </p:nvSpPr>
            <p:spPr>
              <a:xfrm>
                <a:off x="8775723" y="190043"/>
                <a:ext cx="2927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76D9AF0-CB8E-3710-9EEF-C55BA754D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723" y="190043"/>
                <a:ext cx="2927212" cy="369332"/>
              </a:xfrm>
              <a:prstGeom prst="rect">
                <a:avLst/>
              </a:prstGeom>
              <a:blipFill>
                <a:blip r:embed="rId3"/>
                <a:stretch>
                  <a:fillRect l="-2165" r="-3030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0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散点图&#10;&#10;描述已自动生成">
            <a:extLst>
              <a:ext uri="{FF2B5EF4-FFF2-40B4-BE49-F238E27FC236}">
                <a16:creationId xmlns:a16="http://schemas.microsoft.com/office/drawing/2014/main" id="{C945E696-7E92-CC02-DC36-C73303C7DE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352" r="1024"/>
          <a:stretch/>
        </p:blipFill>
        <p:spPr>
          <a:xfrm>
            <a:off x="6074979" y="648537"/>
            <a:ext cx="6117021" cy="6209463"/>
          </a:xfrm>
          <a:prstGeom prst="rect">
            <a:avLst/>
          </a:prstGeom>
        </p:spPr>
      </p:pic>
      <p:pic>
        <p:nvPicPr>
          <p:cNvPr id="5" name="图片 4" descr="图表, 散点图&#10;&#10;描述已自动生成">
            <a:extLst>
              <a:ext uri="{FF2B5EF4-FFF2-40B4-BE49-F238E27FC236}">
                <a16:creationId xmlns:a16="http://schemas.microsoft.com/office/drawing/2014/main" id="{E8C4DD1B-B302-12DD-30F2-3A6414702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324"/>
          <a:stretch/>
        </p:blipFill>
        <p:spPr>
          <a:xfrm>
            <a:off x="73572" y="648537"/>
            <a:ext cx="5880528" cy="62094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11C9046-2CAD-3325-1AF4-2B4CF8450319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6F4A1468-F82B-8BA1-545C-9FBECEA4E630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B2BDB31-5EF9-5DEB-4043-3367D072903B}"/>
              </a:ext>
            </a:extLst>
          </p:cNvPr>
          <p:cNvSpPr txBox="1"/>
          <p:nvPr/>
        </p:nvSpPr>
        <p:spPr>
          <a:xfrm>
            <a:off x="489065" y="905023"/>
            <a:ext cx="360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分类边界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&amp;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概率图可视化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846AD1-0701-F6B2-B246-FB1D98343E82}"/>
                  </a:ext>
                </a:extLst>
              </p:cNvPr>
              <p:cNvSpPr txBox="1"/>
              <p:nvPr/>
            </p:nvSpPr>
            <p:spPr>
              <a:xfrm>
                <a:off x="8775723" y="190043"/>
                <a:ext cx="2927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2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846AD1-0701-F6B2-B246-FB1D98343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723" y="190043"/>
                <a:ext cx="2927212" cy="369332"/>
              </a:xfrm>
              <a:prstGeom prst="rect">
                <a:avLst/>
              </a:prstGeom>
              <a:blipFill>
                <a:blip r:embed="rId3"/>
                <a:stretch>
                  <a:fillRect l="-2165" r="-3030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628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片包含 应用程序&#10;&#10;描述已自动生成">
            <a:extLst>
              <a:ext uri="{FF2B5EF4-FFF2-40B4-BE49-F238E27FC236}">
                <a16:creationId xmlns:a16="http://schemas.microsoft.com/office/drawing/2014/main" id="{90F27E5A-103C-212A-14FC-DF41DE7E47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752"/>
          <a:stretch/>
        </p:blipFill>
        <p:spPr>
          <a:xfrm rot="5400000">
            <a:off x="2635119" y="2887568"/>
            <a:ext cx="5356564" cy="1497724"/>
          </a:xfrm>
          <a:prstGeom prst="rect">
            <a:avLst/>
          </a:prstGeom>
        </p:spPr>
      </p:pic>
      <p:pic>
        <p:nvPicPr>
          <p:cNvPr id="11" name="图片 10" descr="图片包含 应用程序&#10;&#10;描述已自动生成">
            <a:extLst>
              <a:ext uri="{FF2B5EF4-FFF2-40B4-BE49-F238E27FC236}">
                <a16:creationId xmlns:a16="http://schemas.microsoft.com/office/drawing/2014/main" id="{68526D92-9FD9-490C-38B2-B6DA52008B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451" b="15455"/>
          <a:stretch/>
        </p:blipFill>
        <p:spPr>
          <a:xfrm>
            <a:off x="6230283" y="958148"/>
            <a:ext cx="5796069" cy="53565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D23C03-501D-C093-BAC7-87DE190C7DE0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45CA66D-74D8-56B1-8E6F-9711910A263C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93C65E-8474-A25C-F955-891EE6E0E399}"/>
                  </a:ext>
                </a:extLst>
              </p:cNvPr>
              <p:cNvSpPr txBox="1"/>
              <p:nvPr/>
            </p:nvSpPr>
            <p:spPr>
              <a:xfrm>
                <a:off x="1026356" y="2936897"/>
                <a:ext cx="3657091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6000" b="1" dirty="0">
                    <a:solidFill>
                      <a:srgbClr val="C00000"/>
                    </a:solidFill>
                  </a:rPr>
                  <a:t>?</a:t>
                </a:r>
                <a:endParaRPr kumimoji="1"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93C65E-8474-A25C-F955-891EE6E0E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56" y="2936897"/>
                <a:ext cx="3657091" cy="923330"/>
              </a:xfrm>
              <a:prstGeom prst="rect">
                <a:avLst/>
              </a:prstGeom>
              <a:blipFill>
                <a:blip r:embed="rId3"/>
                <a:stretch>
                  <a:fillRect l="-3460" t="-24658" r="-11765" b="-49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159D9BD-6C58-55CD-2272-323286CC85FC}"/>
              </a:ext>
            </a:extLst>
          </p:cNvPr>
          <p:cNvSpPr txBox="1"/>
          <p:nvPr/>
        </p:nvSpPr>
        <p:spPr>
          <a:xfrm>
            <a:off x="489065" y="958148"/>
            <a:ext cx="5014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任务一：可视化不同分类器的结果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8C8ABD-25F0-80A0-F11B-5C851D0E5A0C}"/>
              </a:ext>
            </a:extLst>
          </p:cNvPr>
          <p:cNvSpPr txBox="1"/>
          <p:nvPr/>
        </p:nvSpPr>
        <p:spPr>
          <a:xfrm>
            <a:off x="1559727" y="3738419"/>
            <a:ext cx="2206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三分类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两个特征</a:t>
            </a:r>
          </a:p>
        </p:txBody>
      </p:sp>
    </p:spTree>
    <p:extLst>
      <p:ext uri="{BB962C8B-B14F-4D97-AF65-F5344CB8AC3E}">
        <p14:creationId xmlns:p14="http://schemas.microsoft.com/office/powerpoint/2010/main" val="225591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D23C03-501D-C093-BAC7-87DE190C7DE0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45CA66D-74D8-56B1-8E6F-9711910A263C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93C65E-8474-A25C-F955-891EE6E0E399}"/>
                  </a:ext>
                </a:extLst>
              </p:cNvPr>
              <p:cNvSpPr txBox="1"/>
              <p:nvPr/>
            </p:nvSpPr>
            <p:spPr>
              <a:xfrm>
                <a:off x="1026356" y="2936897"/>
                <a:ext cx="3641061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2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6000" b="1" dirty="0">
                    <a:solidFill>
                      <a:srgbClr val="C00000"/>
                    </a:solidFill>
                  </a:rPr>
                  <a:t>?</a:t>
                </a:r>
                <a:endParaRPr kumimoji="1"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93C65E-8474-A25C-F955-891EE6E0E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56" y="2936897"/>
                <a:ext cx="3641061" cy="923330"/>
              </a:xfrm>
              <a:prstGeom prst="rect">
                <a:avLst/>
              </a:prstGeom>
              <a:blipFill>
                <a:blip r:embed="rId2"/>
                <a:stretch>
                  <a:fillRect l="-3472" t="-24658" r="-11458" b="-49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表, 雷达图, 散点图&#10;&#10;描述已自动生成">
            <a:extLst>
              <a:ext uri="{FF2B5EF4-FFF2-40B4-BE49-F238E27FC236}">
                <a16:creationId xmlns:a16="http://schemas.microsoft.com/office/drawing/2014/main" id="{6E79D9AD-A4BA-FF67-B1A5-209D37B64A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51" t="14420" r="20352" b="9313"/>
          <a:stretch/>
        </p:blipFill>
        <p:spPr>
          <a:xfrm>
            <a:off x="5293239" y="1209057"/>
            <a:ext cx="6048202" cy="53023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59D9BD-6C58-55CD-2272-323286CC85FC}"/>
              </a:ext>
            </a:extLst>
          </p:cNvPr>
          <p:cNvSpPr txBox="1"/>
          <p:nvPr/>
        </p:nvSpPr>
        <p:spPr>
          <a:xfrm>
            <a:off x="489065" y="958148"/>
            <a:ext cx="5014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任务二：可视化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3D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Boundary</a:t>
            </a:r>
            <a:endParaRPr kumimoji="1" lang="zh-CN" altLang="en-US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F2998C-4A16-1339-7105-4D7DDE143027}"/>
              </a:ext>
            </a:extLst>
          </p:cNvPr>
          <p:cNvSpPr txBox="1"/>
          <p:nvPr/>
        </p:nvSpPr>
        <p:spPr>
          <a:xfrm>
            <a:off x="1559727" y="3738419"/>
            <a:ext cx="2206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两分类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三个特征</a:t>
            </a:r>
          </a:p>
        </p:txBody>
      </p:sp>
    </p:spTree>
    <p:extLst>
      <p:ext uri="{BB962C8B-B14F-4D97-AF65-F5344CB8AC3E}">
        <p14:creationId xmlns:p14="http://schemas.microsoft.com/office/powerpoint/2010/main" val="426527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D23C03-501D-C093-BAC7-87DE190C7DE0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45CA66D-74D8-56B1-8E6F-9711910A263C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C243ABF-10B8-25B9-F324-18A3ADCE08E5}"/>
                  </a:ext>
                </a:extLst>
              </p:cNvPr>
              <p:cNvSpPr txBox="1"/>
              <p:nvPr/>
            </p:nvSpPr>
            <p:spPr>
              <a:xfrm>
                <a:off x="1026356" y="2936897"/>
                <a:ext cx="3641061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2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6000" b="1" dirty="0">
                    <a:solidFill>
                      <a:srgbClr val="C00000"/>
                    </a:solidFill>
                  </a:rPr>
                  <a:t>?</a:t>
                </a:r>
                <a:endParaRPr kumimoji="1"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C243ABF-10B8-25B9-F324-18A3ADCE0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56" y="2936897"/>
                <a:ext cx="3641061" cy="923330"/>
              </a:xfrm>
              <a:prstGeom prst="rect">
                <a:avLst/>
              </a:prstGeom>
              <a:blipFill>
                <a:blip r:embed="rId2"/>
                <a:stretch>
                  <a:fillRect l="-3472" t="-24658" r="-11458" b="-49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表, 表面图&#10;&#10;描述已自动生成">
            <a:extLst>
              <a:ext uri="{FF2B5EF4-FFF2-40B4-BE49-F238E27FC236}">
                <a16:creationId xmlns:a16="http://schemas.microsoft.com/office/drawing/2014/main" id="{5EFC3536-FC1E-2EFC-35CF-9DBF2809D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91" t="15281" r="10660" b="4412"/>
          <a:stretch/>
        </p:blipFill>
        <p:spPr>
          <a:xfrm>
            <a:off x="5213130" y="1066288"/>
            <a:ext cx="6285449" cy="558787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37C127-9347-940D-4EE7-D1C067CDDE21}"/>
              </a:ext>
            </a:extLst>
          </p:cNvPr>
          <p:cNvSpPr txBox="1"/>
          <p:nvPr/>
        </p:nvSpPr>
        <p:spPr>
          <a:xfrm>
            <a:off x="489064" y="958148"/>
            <a:ext cx="6400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任务三：可视化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3D Probability Map</a:t>
            </a:r>
            <a:endParaRPr kumimoji="1" lang="zh-CN" altLang="en-US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281B5A-31FC-5D85-E192-804BDF71E3EA}"/>
              </a:ext>
            </a:extLst>
          </p:cNvPr>
          <p:cNvSpPr txBox="1"/>
          <p:nvPr/>
        </p:nvSpPr>
        <p:spPr>
          <a:xfrm>
            <a:off x="1559727" y="3738419"/>
            <a:ext cx="2206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两分类</a:t>
            </a:r>
            <a:r>
              <a:rPr kumimoji="1"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三个特征</a:t>
            </a:r>
          </a:p>
        </p:txBody>
      </p:sp>
    </p:spTree>
    <p:extLst>
      <p:ext uri="{BB962C8B-B14F-4D97-AF65-F5344CB8AC3E}">
        <p14:creationId xmlns:p14="http://schemas.microsoft.com/office/powerpoint/2010/main" val="1847538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BE6CB5-7A18-64E3-23A6-15297C6E3704}"/>
              </a:ext>
            </a:extLst>
          </p:cNvPr>
          <p:cNvSpPr txBox="1"/>
          <p:nvPr/>
        </p:nvSpPr>
        <p:spPr>
          <a:xfrm>
            <a:off x="489065" y="266988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Project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3:</a:t>
            </a:r>
            <a:r>
              <a:rPr kumimoji="1" lang="zh-CN" altLang="en-US" sz="3200" b="1" dirty="0"/>
              <a:t> 鸢尾花数据分类与可视化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5593AB0E-7CD2-B019-0105-FF2108751B5B}"/>
              </a:ext>
            </a:extLst>
          </p:cNvPr>
          <p:cNvCxnSpPr>
            <a:cxnSpLocks/>
          </p:cNvCxnSpPr>
          <p:nvPr/>
        </p:nvCxnSpPr>
        <p:spPr>
          <a:xfrm>
            <a:off x="489065" y="904955"/>
            <a:ext cx="6400968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A43F27F-12E4-BB70-81EB-6DD9AC9E502D}"/>
              </a:ext>
            </a:extLst>
          </p:cNvPr>
          <p:cNvSpPr txBox="1"/>
          <p:nvPr/>
        </p:nvSpPr>
        <p:spPr>
          <a:xfrm>
            <a:off x="489064" y="958148"/>
            <a:ext cx="6400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任务四：能提高分数的任何事情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A992FC2-5F9F-2930-3CF7-DA2536414729}"/>
                  </a:ext>
                </a:extLst>
              </p:cNvPr>
              <p:cNvSpPr txBox="1"/>
              <p:nvPr/>
            </p:nvSpPr>
            <p:spPr>
              <a:xfrm>
                <a:off x="3689548" y="2820190"/>
                <a:ext cx="4252767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2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2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6000" b="1" dirty="0">
                    <a:solidFill>
                      <a:srgbClr val="C00000"/>
                    </a:solidFill>
                  </a:rPr>
                  <a:t>?</a:t>
                </a:r>
                <a:endParaRPr kumimoji="1"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A992FC2-5F9F-2930-3CF7-DA2536414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48" y="2820190"/>
                <a:ext cx="4252767" cy="923330"/>
              </a:xfrm>
              <a:prstGeom prst="rect">
                <a:avLst/>
              </a:prstGeom>
              <a:blipFill>
                <a:blip r:embed="rId2"/>
                <a:stretch>
                  <a:fillRect l="-2976" t="-24658" r="-7738" b="-49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07D77FA3-1572-37FF-BB63-C59C782F83F3}"/>
              </a:ext>
            </a:extLst>
          </p:cNvPr>
          <p:cNvSpPr txBox="1"/>
          <p:nvPr/>
        </p:nvSpPr>
        <p:spPr>
          <a:xfrm>
            <a:off x="2946941" y="2750272"/>
            <a:ext cx="220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比如：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53426F-C24C-7990-3546-04956C9E336D}"/>
              </a:ext>
            </a:extLst>
          </p:cNvPr>
          <p:cNvSpPr txBox="1"/>
          <p:nvPr/>
        </p:nvSpPr>
        <p:spPr>
          <a:xfrm>
            <a:off x="3689548" y="3743520"/>
            <a:ext cx="3853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3D</a:t>
            </a:r>
            <a:r>
              <a:rPr kumimoji="1" lang="zh-CN" altLang="en-US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" altLang="zh-CN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Boundary + </a:t>
            </a:r>
            <a:r>
              <a:rPr kumimoji="1" lang="en-US" altLang="zh-CN" sz="1800" b="1" dirty="0">
                <a:latin typeface="SimSun" panose="02010600030101010101" pitchFamily="2" charset="-122"/>
                <a:ea typeface="SimSun" panose="02010600030101010101" pitchFamily="2" charset="-122"/>
              </a:rPr>
              <a:t>Probability Map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032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393</Words>
  <Application>Microsoft Macintosh PowerPoint</Application>
  <PresentationFormat>宽屏</PresentationFormat>
  <Paragraphs>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-webkit-standard</vt:lpstr>
      <vt:lpstr>等线</vt:lpstr>
      <vt:lpstr>等线 Light</vt:lpstr>
      <vt:lpstr>SimSun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k2821</dc:creator>
  <cp:lastModifiedBy>k2821</cp:lastModifiedBy>
  <cp:revision>272</cp:revision>
  <dcterms:created xsi:type="dcterms:W3CDTF">2025-11-25T07:18:57Z</dcterms:created>
  <dcterms:modified xsi:type="dcterms:W3CDTF">2025-11-25T14:15:09Z</dcterms:modified>
</cp:coreProperties>
</file>